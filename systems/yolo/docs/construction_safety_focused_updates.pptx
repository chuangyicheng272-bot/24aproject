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58368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工地安全監控系統：重點更新報告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8988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DAE8E2"/>
                </a:solidFill>
                <a:latin typeface="Microsoft JhengHei"/>
              </a:defRPr>
            </a:pPr>
            <a:r>
              <a:t>手機串流連接、主畫面更新、人員追蹤改良、MediaPipe 姿態分析優化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743200"/>
            <a:ext cx="1700784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88036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2D4A5D"/>
                </a:solidFill>
                <a:latin typeface="Microsoft JhengHei"/>
              </a:defRPr>
            </a:pPr>
            <a:r>
              <a:t>手機串流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5456" y="288036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C6B65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7208" y="2743200"/>
            <a:ext cx="1700784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288036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2D4A5D"/>
                </a:solidFill>
                <a:latin typeface="Microsoft JhengHei"/>
              </a:defRPr>
            </a:pPr>
            <a:r>
              <a:t>主畫面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288036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C6B65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7176" y="2743200"/>
            <a:ext cx="1700784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8" y="288036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2D4A5D"/>
                </a:solidFill>
                <a:latin typeface="Microsoft JhengHei"/>
              </a:defRPr>
            </a:pPr>
            <a:r>
              <a:t>人員追蹤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88036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C6B65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67144" y="2743200"/>
            <a:ext cx="1700784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0296" y="288036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2D4A5D"/>
                </a:solidFill>
                <a:latin typeface="Microsoft JhengHei"/>
              </a:defRPr>
            </a:pPr>
            <a:r>
              <a:t>MediaPipe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59" y="288036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C6B65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2" y="2743200"/>
            <a:ext cx="1700784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0264" y="288036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2D4A5D"/>
                </a:solidFill>
                <a:latin typeface="Microsoft JhengHei"/>
              </a:defRPr>
            </a:pPr>
            <a:r>
              <a:t>展示驗證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7955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AE8E2"/>
                </a:solidFill>
                <a:latin typeface="Microsoft JhengHei"/>
              </a:defRPr>
            </a:pPr>
            <a:r>
              <a:t>目的：讓報告對象快速理解這幾個功能是如何被接上、為何修改、以及實際改善了什麼。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7211C"/>
                </a:solidFill>
                <a:latin typeface="Microsoft JhengHei"/>
              </a:defRPr>
            </a:pPr>
            <a:r>
              <a:t>本份簡報聚焦範圍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B65"/>
                </a:solidFill>
                <a:latin typeface="Microsoft JhengHei"/>
              </a:defRPr>
            </a:pPr>
            <a:r>
              <a:t>不是完整系統總覽，而是針對最近主要改動做技術與成果說明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1018520" cy="18288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65"/>
                </a:solidFill>
                <a:latin typeface="Microsoft JhengHei"/>
              </a:defRPr>
            </a:pPr>
            <a:r>
              <a:t>Focused Updates /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6060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45336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手機串流連接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9384"/>
            <a:ext cx="2276856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手機 IP Camera URL 接入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自動嘗試 /video、/mjpegfeed、/shot.jpg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RTSP、本機影片、Webcam 同一套輸入流程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低延遲讀取與快取處理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417320"/>
            <a:ext cx="26060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1545336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主畫面更新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1929384"/>
            <a:ext cx="2276856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即時畫面在上、人員資訊在下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攝影機狀態移到右上角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自由繪製 UWB 判定範圍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Worker / MediaPipe / PPE 三模式切換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17320"/>
            <a:ext cx="26060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1545336"/>
            <a:ext cx="2276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追蹤改良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1929384"/>
            <a:ext cx="2276856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單人測試 max_people=1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IoU + 中心距離 + 框大小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外觀 HSV 特徵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舊軌跡保留但不顯示殘影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1417320"/>
            <a:ext cx="1874519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8632" y="1545336"/>
            <a:ext cx="1545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MediaPipe 優化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8632" y="1929384"/>
            <a:ext cx="1545336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heavy task 模型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人框裁切後分析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腰部座標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奔跑規則校正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7211C"/>
                </a:solidFill>
                <a:latin typeface="Microsoft JhengHei"/>
              </a:defRPr>
            </a:pPr>
            <a:r>
              <a:t>手機串流連接：遇到的問題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B65"/>
                </a:solidFill>
                <a:latin typeface="Microsoft JhengHei"/>
              </a:defRPr>
            </a:pPr>
            <a:r>
              <a:t>手機攝影機不是固定只有一種 URL 格式，因此一開始容易連不上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1018520" cy="18288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65"/>
                </a:solidFill>
                <a:latin typeface="Microsoft JhengHei"/>
              </a:defRPr>
            </a:pPr>
            <a:r>
              <a:t>Focused Updates /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當時現象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測試手機串流時出現連線錯誤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例如嘗試 http://10.98.150.196/video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也嘗試 /mjpegfeed、/shot.jpg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曾看到 tcp 連線失敗與錯誤碼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代表當下網址、port 或網路連通性不穩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原因分析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手機 IP Camera App 的串流端點不統一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有些 App 使用 8080，有些使用 4747 或 80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MJPEG 串流與單張 snapshot 是不同讀取方式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若手機與電腦不同網段，HTTP 會連不上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採用策略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不要求使用者輸入完整端點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輸入 base URL 後自動展開候選路徑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先嘗試連續串流，再嘗試 snapshot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把成功來源記錄成 active_source 顯示在畫面右上角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7211C"/>
                </a:solidFill>
                <a:latin typeface="Microsoft JhengHei"/>
              </a:defRPr>
            </a:pPr>
            <a:r>
              <a:t>手機串流連接：實作方式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B65"/>
                </a:solidFill>
                <a:latin typeface="Microsoft JhengHei"/>
              </a:defRPr>
            </a:pPr>
            <a:r>
              <a:t>把手機串流整合到模組一，和影片、RTSP、Webcam 使用同一套 FramePacket 輸出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1018520" cy="18288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65"/>
                </a:solidFill>
                <a:latin typeface="Microsoft JhengHei"/>
              </a:defRPr>
            </a:pPr>
            <a:r>
              <a:t>Focused Updates /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1874519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00200"/>
            <a:ext cx="1728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2D4A5D"/>
                </a:solidFill>
                <a:latin typeface="Microsoft JhengHei"/>
              </a:defRPr>
            </a:pPr>
            <a:r>
              <a:t>使用者輸入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7751" y="1600200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C6B65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1463040"/>
            <a:ext cx="1874519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600200"/>
            <a:ext cx="1728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2D4A5D"/>
                </a:solidFill>
                <a:latin typeface="Microsoft JhengHei"/>
              </a:defRPr>
            </a:pPr>
            <a:r>
              <a:t>產生候選端點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8304" y="1600200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C6B65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46904" y="1463040"/>
            <a:ext cx="1874519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0056" y="1600200"/>
            <a:ext cx="1728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2D4A5D"/>
                </a:solidFill>
                <a:latin typeface="Microsoft JhengHei"/>
              </a:defRPr>
            </a:pPr>
            <a:r>
              <a:t>OpenCV / snapshot 讀取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856" y="1600200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C6B65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77456" y="1463040"/>
            <a:ext cx="1874519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8" y="1600200"/>
            <a:ext cx="1728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2D4A5D"/>
                </a:solidFill>
                <a:latin typeface="Microsoft JhengHei"/>
              </a:defRPr>
            </a:pPr>
            <a:r>
              <a:t>前處理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7" y="1600200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C6B65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8008" y="1463040"/>
            <a:ext cx="1874519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600200"/>
            <a:ext cx="1728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2D4A5D"/>
                </a:solidFill>
                <a:latin typeface="Microsoft JhengHei"/>
              </a:defRPr>
            </a:pPr>
            <a:r>
              <a:t>FramePacket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423160"/>
            <a:ext cx="333756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2551176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候選端點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2935224"/>
            <a:ext cx="3008376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若輸入 http://IP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系統自動嘗試：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http://IP:8080/video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http://IP:4747/mjpegfeed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http://IP:80/shot.jpg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最後再回退到原 URL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2423160"/>
            <a:ext cx="333756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2551176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讀取策略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2935224"/>
            <a:ext cx="3008376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串流端點：cv2.VideoCapture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snapshot 端點：urlopen + cv2.imdecode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成功後紀錄 active_source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失敗時累積錯誤訊息，方便除錯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423160"/>
            <a:ext cx="333756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2551176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輸出統一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2935224"/>
            <a:ext cx="3008376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不論來源是手機、RTSP 或影片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都輸出 frame、frame_index、timestamp、source、width、height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後續 YOLO、MediaPipe、追蹤不需要關心來源差異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7211C"/>
                </a:solidFill>
                <a:latin typeface="Microsoft JhengHei"/>
              </a:defRPr>
            </a:pPr>
            <a:r>
              <a:t>手機串流與延遲改善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B65"/>
                </a:solidFill>
                <a:latin typeface="Microsoft JhengHei"/>
              </a:defRPr>
            </a:pPr>
            <a:r>
              <a:t>重點是不要讓舊幀堆積，也不要讓推論阻塞畫面串流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1018520" cy="18288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65"/>
                </a:solidFill>
                <a:latin typeface="Microsoft JhengHei"/>
              </a:defRPr>
            </a:pPr>
            <a:r>
              <a:t>Focused Updates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3375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99616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低延遲輸入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83664"/>
            <a:ext cx="3008376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target_fps 預設 20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buffer_size = 1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stale_frame_grabs = 4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即時來源會先 grab 掉舊幀，再 retrieve 最新幀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3375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499616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非同步推論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83664"/>
            <a:ext cx="3008376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async_stream = True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畫面串流持續輸出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YOLO / MediaPipe 在背景 thread 分析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inference_fps 控制分析頻率，避免 CPU 被打滿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71600"/>
            <a:ext cx="33375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499616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畫質與比例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883664"/>
            <a:ext cx="3008376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輸出解析度 960x540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preserve_aspect + letterbox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避免人體被拉寬或拉高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stream_jpeg_quality 預設 58，降低網路傳輸量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7211C"/>
                </a:solidFill>
                <a:latin typeface="Microsoft JhengHei"/>
              </a:defRPr>
            </a:pPr>
            <a:r>
              <a:t>主畫面更新：從基本畫面到監控介面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B65"/>
                </a:solidFill>
                <a:latin typeface="Microsoft JhengHei"/>
              </a:defRPr>
            </a:pPr>
            <a:r>
              <a:t>畫面不只是顯示影片，而是可以操作、切換、觀察即時狀態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1018520" cy="18288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65"/>
                </a:solidFill>
                <a:latin typeface="Microsoft JhengHei"/>
              </a:defRPr>
            </a:pPr>
            <a:r>
              <a:t>Focused Updates /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98448"/>
            <a:ext cx="333756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26464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原始需求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10512"/>
            <a:ext cx="3008376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即時畫面放上方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畫面人物資訊放下方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先粗略完成監控畫面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後續再補詳細功能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98448"/>
            <a:ext cx="333756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426464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已完成更新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10512"/>
            <a:ext cx="3008376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Flask root / 提供主畫面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右上角顯示攝影機 active_source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人員資訊卡依實際 workers 生成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健康檢查、攝影機、人員、警報 JSON 連結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98448"/>
            <a:ext cx="333756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426464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一致性修正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810512"/>
            <a:ext cx="3008376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修正 404 Not Found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修正頁面中文亂碼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修正畫面變形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移除錯誤 BLE 字樣，統一為 UWB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Next.js 靜態頁也重新整理成正常中文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7211C"/>
                </a:solidFill>
                <a:latin typeface="Microsoft JhengHei"/>
              </a:defRPr>
            </a:pPr>
            <a:r>
              <a:t>主畫面更新：範圍繪製與三種顯示模式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B65"/>
                </a:solidFill>
                <a:latin typeface="Microsoft JhengHei"/>
              </a:defRPr>
            </a:pPr>
            <a:r>
              <a:t>讓同一個主畫面能針對不同模組做展示與除錯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1018520" cy="18288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65"/>
                </a:solidFill>
                <a:latin typeface="Microsoft JhengHei"/>
              </a:defRPr>
            </a:pPr>
            <a:r>
              <a:t>Focused Updates /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UWB 範圍繪製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在即時畫面上點選多邊形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可儲存或清除重畫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座標以 normalized 0~1 儲存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人在範圍外時資訊卡顯示「無」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三種 Overlay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Worker：人框、track_id、腰部座標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MediaPipe：骨架與 33 點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PPE：安全帽/背心等裝備框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切換 API：/api/cameras/overlay-mode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人員資訊卡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顯示 worker_id / track_id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顯示行為狀態、風險、警報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顯示 PPE 穩定結果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新增 PPE 原始偵測，方便比對模型結果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7211C"/>
                </a:solidFill>
                <a:latin typeface="Microsoft JhengHei"/>
              </a:defRPr>
            </a:pPr>
            <a:r>
              <a:t>人員追蹤改良：問題分析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B65"/>
                </a:solidFill>
                <a:latin typeface="Microsoft JhengHei"/>
              </a:defRPr>
            </a:pPr>
            <a:r>
              <a:t>同一個人被換成不同 ID，通常不是單一原因造成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1018520" cy="18288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65"/>
                </a:solidFill>
                <a:latin typeface="Microsoft JhengHei"/>
              </a:defRPr>
            </a:pPr>
            <a:r>
              <a:t>Focused Updates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原本現象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同一個人在不同時間變成不同人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單人影片也可能出現多個框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畫面上有殘留框或假框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追蹤結果看起來不流暢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原因拆解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YOLO 人員框偶爾漏偵測或跳動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低信心假人框進入追蹤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只用 IoU 遇到快速位移會斷線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為了接回 ID 保留舊 track，但舊 track 若直接顯示會像殘影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測試情境確認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使用者補充：測試影片只有一個人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因此 max_people 預設調成 1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只保留最可信的人框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多人場景未來可用 MAX_PEOPLE 或 API 調整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7211C"/>
                </a:solidFill>
                <a:latin typeface="Microsoft JhengHei"/>
              </a:defRPr>
            </a:pPr>
            <a:r>
              <a:t>人員追蹤改良：實作細節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B65"/>
                </a:solidFill>
                <a:latin typeface="Microsoft JhengHei"/>
              </a:defRPr>
            </a:pPr>
            <a:r>
              <a:t>追蹤從單純 IoU 擴充成多條件匹配，並改善顯示層流暢度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1018520" cy="18288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65"/>
                </a:solidFill>
                <a:latin typeface="Microsoft JhengHei"/>
              </a:defRPr>
            </a:pPr>
            <a:r>
              <a:t>Focused Updates /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匹配條件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IoU 基礎匹配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放大預測框做 relaxed IoU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中心距離與框大小相似度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人員外觀 HSV histogram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appearance similarity 協助重新接回同一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顯示策略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tracker 內部保留 missed track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但畫面與 /api/workers 只顯示 missed=0 的 active worker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避免舊框殘留在主畫面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新增 retained_tracks 方便除錯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流暢化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Track 會輸出 velocity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串流每幀用 velocity 做短時間預測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預測時間上限 0.65 秒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讓 Worker overlay 框在兩次推論間平滑移動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7211C"/>
                </a:solidFill>
                <a:latin typeface="Microsoft JhengHei"/>
              </a:defRPr>
            </a:pPr>
            <a:r>
              <a:t>人員追蹤改良：成果與可展示點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B65"/>
                </a:solidFill>
                <a:latin typeface="Microsoft JhengHei"/>
              </a:defRPr>
            </a:pPr>
            <a:r>
              <a:t>修正後單人測試不再產生多個 worker，資訊與畫面一致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1018520" cy="18288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65"/>
                </a:solidFill>
                <a:latin typeface="Microsoft JhengHei"/>
              </a:defRPr>
            </a:pPr>
            <a:r>
              <a:t>Focused Updates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920240" cy="603504"/>
          </a:xfrm>
          <a:prstGeom prst="rect">
            <a:avLst/>
          </a:prstGeom>
          <a:solidFill>
            <a:srgbClr val="2D4A5D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399032"/>
            <a:ext cx="1810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FFFFFF"/>
                </a:solidFill>
                <a:latin typeface="Microsoft JhengHei"/>
              </a:defRPr>
            </a:pPr>
            <a:r>
              <a:t>項目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325880"/>
            <a:ext cx="4617720" cy="603504"/>
          </a:xfrm>
          <a:prstGeom prst="rect">
            <a:avLst/>
          </a:prstGeom>
          <a:solidFill>
            <a:srgbClr val="2D4A5D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5184" y="1399032"/>
            <a:ext cx="4507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FFFFFF"/>
                </a:solidFill>
                <a:latin typeface="Microsoft JhengHei"/>
              </a:defRPr>
            </a:pPr>
            <a:r>
              <a:t>修改前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1325880"/>
            <a:ext cx="4617720" cy="603504"/>
          </a:xfrm>
          <a:prstGeom prst="rect">
            <a:avLst/>
          </a:prstGeom>
          <a:solidFill>
            <a:srgbClr val="2D4A5D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2903" y="1399032"/>
            <a:ext cx="4507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FFFFFF"/>
                </a:solidFill>
                <a:latin typeface="Microsoft JhengHei"/>
              </a:defRPr>
            </a:pPr>
            <a:r>
              <a:t>修改後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929384"/>
            <a:ext cx="19202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002536"/>
            <a:ext cx="1810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17211C"/>
                </a:solidFill>
                <a:latin typeface="Microsoft JhengHei"/>
              </a:defRPr>
            </a:pPr>
            <a:r>
              <a:t>人員數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929384"/>
            <a:ext cx="46177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5184" y="2002536"/>
            <a:ext cx="4507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17211C"/>
                </a:solidFill>
                <a:latin typeface="Microsoft JhengHei"/>
              </a:defRPr>
            </a:pPr>
            <a:r>
              <a:t>單人影片可能出現多框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1929384"/>
            <a:ext cx="46177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2903" y="2002536"/>
            <a:ext cx="4507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17211C"/>
                </a:solidFill>
                <a:latin typeface="Microsoft JhengHei"/>
              </a:defRPr>
            </a:pPr>
            <a:r>
              <a:t>max_people=1，只保留最可信人框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532888"/>
            <a:ext cx="19202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606040"/>
            <a:ext cx="1810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17211C"/>
                </a:solidFill>
                <a:latin typeface="Microsoft JhengHei"/>
              </a:defRPr>
            </a:pPr>
            <a:r>
              <a:t>Track 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532888"/>
            <a:ext cx="46177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15184" y="2606040"/>
            <a:ext cx="4507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17211C"/>
                </a:solidFill>
                <a:latin typeface="Microsoft JhengHei"/>
              </a:defRPr>
            </a:pPr>
            <a:r>
              <a:t>漏偵測後容易換 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2532888"/>
            <a:ext cx="46177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3" y="2606040"/>
            <a:ext cx="4507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17211C"/>
                </a:solidFill>
                <a:latin typeface="Microsoft JhengHei"/>
              </a:defRPr>
            </a:pPr>
            <a:r>
              <a:t>IoU + 距離 + 尺寸 + 外觀特徵接回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136391"/>
            <a:ext cx="19202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3209544"/>
            <a:ext cx="1810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17211C"/>
                </a:solidFill>
                <a:latin typeface="Microsoft JhengHei"/>
              </a:defRPr>
            </a:pPr>
            <a:r>
              <a:t>畫面殘影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3136391"/>
            <a:ext cx="46177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5184" y="3209544"/>
            <a:ext cx="4507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17211C"/>
                </a:solidFill>
                <a:latin typeface="Microsoft JhengHei"/>
              </a:defRPr>
            </a:pPr>
            <a:r>
              <a:t>保留軌跡也被畫出來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3136391"/>
            <a:ext cx="46177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2903" y="3209544"/>
            <a:ext cx="4507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17211C"/>
                </a:solidFill>
                <a:latin typeface="Microsoft JhengHei"/>
              </a:defRPr>
            </a:pPr>
            <a:r>
              <a:t>只顯示 active track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739896"/>
            <a:ext cx="19202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3813048"/>
            <a:ext cx="1810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17211C"/>
                </a:solidFill>
                <a:latin typeface="Microsoft JhengHei"/>
              </a:defRPr>
            </a:pPr>
            <a:r>
              <a:t>流暢度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739896"/>
            <a:ext cx="46177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15184" y="3813048"/>
            <a:ext cx="4507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17211C"/>
                </a:solidFill>
                <a:latin typeface="Microsoft JhengHei"/>
              </a:defRPr>
            </a:pPr>
            <a:r>
              <a:t>框只在推論完成時更新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3739896"/>
            <a:ext cx="46177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32903" y="3813048"/>
            <a:ext cx="4507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17211C"/>
                </a:solidFill>
                <a:latin typeface="Microsoft JhengHei"/>
              </a:defRPr>
            </a:pPr>
            <a:r>
              <a:t>兩次推論間用 velocity 預測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343400"/>
            <a:ext cx="19202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4416552"/>
            <a:ext cx="1810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17211C"/>
                </a:solidFill>
                <a:latin typeface="Microsoft JhengHei"/>
              </a:defRPr>
            </a:pPr>
            <a:r>
              <a:t>資料一致性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4343400"/>
            <a:ext cx="46177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15184" y="4416552"/>
            <a:ext cx="4507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17211C"/>
                </a:solidFill>
                <a:latin typeface="Microsoft JhengHei"/>
              </a:defRPr>
            </a:pPr>
            <a:r>
              <a:t>狀態 API 可能包含保留軌跡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4343400"/>
            <a:ext cx="46177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32903" y="4416552"/>
            <a:ext cx="4507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 b="0">
                <a:solidFill>
                  <a:srgbClr val="17211C"/>
                </a:solidFill>
                <a:latin typeface="Microsoft JhengHei"/>
              </a:defRPr>
            </a:pPr>
            <a:r>
              <a:t>/api/workers 與畫面一致顯示 active worker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59893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5C6B65"/>
                </a:solidFill>
                <a:latin typeface="Microsoft JhengHei"/>
              </a:defRPr>
            </a:pPr>
            <a:r>
              <a:t>測試結果：單人影片 process-once 可維持 workers=1、tracks=1，並輸出 velocity、ppe_detections、wall_time 等完整欄位。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7211C"/>
                </a:solidFill>
                <a:latin typeface="Microsoft JhengHei"/>
              </a:defRPr>
            </a:pPr>
            <a:r>
              <a:t>MediaPipe 優化：問題分析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B65"/>
                </a:solidFill>
                <a:latin typeface="Microsoft JhengHei"/>
              </a:defRPr>
            </a:pPr>
            <a:r>
              <a:t>姿態準確度與行為判斷，會受到裁切、幀率、特徵門檻影響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1018520" cy="18288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65"/>
                </a:solidFill>
                <a:latin typeface="Microsoft JhengHei"/>
              </a:defRPr>
            </a:pPr>
            <a:r>
              <a:t>Focused Updates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原本問題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MediaPipe 抓不到或不穩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跑步偵測不到或太容易觸發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單幀判斷容易誤判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如果人太小、腳被遮住，腳踝/膝蓋特徵會不可靠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原因分析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整張畫面多人姿態不穩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YOLO 人框裁切若偏移會影響骨架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async inference FPS 與行為判斷 FPS 不一致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膝蓋角度抖動不能單獨代表奔跑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優化方向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下載並接入 pose_landmarker_heavy.task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每位人員 ROI 裁切後個別分析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保留連續 0.5~2 秒資料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使用多特徵綜合判斷行為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7211C"/>
                </a:solidFill>
                <a:latin typeface="Microsoft JhengHei"/>
              </a:defRPr>
            </a:pPr>
            <a:r>
              <a:t>MediaPipe 優化：實作方式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B65"/>
                </a:solidFill>
                <a:latin typeface="Microsoft JhengHei"/>
              </a:defRPr>
            </a:pPr>
            <a:r>
              <a:t>將姿態分析變成可追溯、可調整的特徵流程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1018520" cy="18288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65"/>
                </a:solidFill>
                <a:latin typeface="Microsoft JhengHei"/>
              </a:defRPr>
            </a:pPr>
            <a:r>
              <a:t>Focused Updates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874519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54480"/>
            <a:ext cx="1728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2D4A5D"/>
                </a:solidFill>
                <a:latin typeface="Microsoft JhengHei"/>
              </a:defRPr>
            </a:pPr>
            <a:r>
              <a:t>YOLO 人框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7751" y="1554480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C6B65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1417320"/>
            <a:ext cx="1874519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554480"/>
            <a:ext cx="1728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2D4A5D"/>
                </a:solidFill>
                <a:latin typeface="Microsoft JhengHei"/>
              </a:defRPr>
            </a:pPr>
            <a:r>
              <a:t>擴大 ROI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8304" y="1554480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C6B65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46904" y="1417320"/>
            <a:ext cx="1874519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0056" y="1554480"/>
            <a:ext cx="1728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2D4A5D"/>
                </a:solidFill>
                <a:latin typeface="Microsoft JhengHei"/>
              </a:defRPr>
            </a:pPr>
            <a:r>
              <a:t>MediaPipe heavy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856" y="1554480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C6B65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77456" y="1417320"/>
            <a:ext cx="1874519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8" y="1554480"/>
            <a:ext cx="1728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2D4A5D"/>
                </a:solidFill>
                <a:latin typeface="Microsoft JhengHei"/>
              </a:defRPr>
            </a:pPr>
            <a:r>
              <a:t>座標映射回整圖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7" y="1554480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C6B65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8008" y="1417320"/>
            <a:ext cx="1874519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554480"/>
            <a:ext cx="1728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2D4A5D"/>
                </a:solidFill>
                <a:latin typeface="Microsoft JhengHei"/>
              </a:defRPr>
            </a:pPr>
            <a:r>
              <a:t>行為特徵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395728"/>
            <a:ext cx="3337560" cy="3493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2523744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ROI 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2907792"/>
            <a:ext cx="300837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每個 person box 加 padding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裁切人員區域後跑 pose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取 confidence 最高的 pose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map_pose_detection_to_frame 映射回原圖座標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2395728"/>
            <a:ext cx="3337560" cy="3493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2523744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座標輸出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2907792"/>
            <a:ext cx="300837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輸出 33 個 landmarks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計算左右髖部中心作為腰部座標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MediaPipe 失敗時 fallback 到人框腰部中心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主畫面 MediaPipe 模式可畫骨架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395728"/>
            <a:ext cx="3337560" cy="3493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2523744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時間一致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2907792"/>
            <a:ext cx="300837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MediaPipe timestamp 單調遞增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WorkerManager fps 使用實際 analysis_fps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避免 async 模式下行為判斷累積幀數錯估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行為結果保留 debug info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7211C"/>
                </a:solidFill>
                <a:latin typeface="Microsoft JhengHei"/>
              </a:defRPr>
            </a:pPr>
            <a:r>
              <a:t>MediaPipe 優化：姿態特徵與行為規則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B65"/>
                </a:solidFill>
                <a:latin typeface="Microsoft JhengHei"/>
              </a:defRPr>
            </a:pPr>
            <a:r>
              <a:t>參考論文特徵，但目前先用規則式判斷而非訓練模型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1018520" cy="18288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65"/>
                </a:solidFill>
                <a:latin typeface="Microsoft JhengHei"/>
              </a:defRPr>
            </a:pPr>
            <a:r>
              <a:t>Focused Updates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姿態特徵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軀幹角度 torso_tilt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髖部高度 hip_height_ratio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頭肩相對位置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左右手腕高度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左右膝蓋角度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左右腳踝 Y 變化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關鍵點 Y 軸標準差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行為判斷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跌倒：姿態轉換 + 高度下降/角度變化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奔跑：身體位移 + 手臂擺動 + 步伐變化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步伐不穩：橫向晃動且速度不高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揮手求救：手腕高於肩部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奔跑多次校正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先修掉「膝蓋抖動就算跑步」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再放寬過嚴的腳踝與手臂門檻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目前 2 筆姿態資料即可開始判斷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確認幀數約 2~3 幀，反應較快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7211C"/>
                </a:solidFill>
                <a:latin typeface="Microsoft JhengHei"/>
              </a:defRPr>
            </a:pPr>
            <a:r>
              <a:t>四項更新總結：問題、做法、結果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B65"/>
                </a:solidFill>
                <a:latin typeface="Microsoft JhengHei"/>
              </a:defRPr>
            </a:pPr>
            <a:r>
              <a:t>適合報告時快速收斂重點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1018520" cy="18288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65"/>
                </a:solidFill>
                <a:latin typeface="Microsoft JhengHei"/>
              </a:defRPr>
            </a:pPr>
            <a:r>
              <a:t>Focused Updates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417320" cy="676656"/>
          </a:xfrm>
          <a:prstGeom prst="rect">
            <a:avLst/>
          </a:prstGeom>
          <a:solidFill>
            <a:srgbClr val="2D4A5D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307592"/>
            <a:ext cx="13075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FFFFFF"/>
                </a:solidFill>
                <a:latin typeface="Microsoft JhengHei"/>
              </a:defRPr>
            </a:pPr>
            <a:r>
              <a:t>主題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234440"/>
            <a:ext cx="3246120" cy="676656"/>
          </a:xfrm>
          <a:prstGeom prst="rect">
            <a:avLst/>
          </a:prstGeom>
          <a:solidFill>
            <a:srgbClr val="2D4A5D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9384" y="1307592"/>
            <a:ext cx="31363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FFFFFF"/>
                </a:solidFill>
                <a:latin typeface="Microsoft JhengHei"/>
              </a:defRPr>
            </a:pPr>
            <a:r>
              <a:t>原本問題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234440"/>
            <a:ext cx="3886200" cy="676656"/>
          </a:xfrm>
          <a:prstGeom prst="rect">
            <a:avLst/>
          </a:prstGeom>
          <a:solidFill>
            <a:srgbClr val="2D4A5D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3" y="1307592"/>
            <a:ext cx="37764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FFFFFF"/>
                </a:solidFill>
                <a:latin typeface="Microsoft JhengHei"/>
              </a:defRPr>
            </a:pPr>
            <a:r>
              <a:t>修改方式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1234440"/>
            <a:ext cx="2788920" cy="676656"/>
          </a:xfrm>
          <a:prstGeom prst="rect">
            <a:avLst/>
          </a:prstGeom>
          <a:solidFill>
            <a:srgbClr val="2D4A5D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61704" y="1307592"/>
            <a:ext cx="26791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FFFFFF"/>
                </a:solidFill>
                <a:latin typeface="Microsoft JhengHei"/>
              </a:defRPr>
            </a:pPr>
            <a:r>
              <a:t>目前結果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11095"/>
            <a:ext cx="14173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984248"/>
            <a:ext cx="13075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0">
                <a:solidFill>
                  <a:srgbClr val="17211C"/>
                </a:solidFill>
                <a:latin typeface="Microsoft JhengHei"/>
              </a:defRPr>
            </a:pPr>
            <a:r>
              <a:t>手機串流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19" y="1911095"/>
            <a:ext cx="32461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9384" y="1984248"/>
            <a:ext cx="31363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0">
                <a:solidFill>
                  <a:srgbClr val="17211C"/>
                </a:solidFill>
                <a:latin typeface="Microsoft JhengHei"/>
              </a:defRPr>
            </a:pPr>
            <a:r>
              <a:t>URL/port/端點不固定，常連不上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911095"/>
            <a:ext cx="388620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3" y="1984248"/>
            <a:ext cx="37764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0">
                <a:solidFill>
                  <a:srgbClr val="17211C"/>
                </a:solidFill>
                <a:latin typeface="Microsoft JhengHei"/>
              </a:defRPr>
            </a:pPr>
            <a:r>
              <a:t>自動展開候選端點，支援 stream 與 snapshot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911095"/>
            <a:ext cx="27889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1984248"/>
            <a:ext cx="26791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0">
                <a:solidFill>
                  <a:srgbClr val="17211C"/>
                </a:solidFill>
                <a:latin typeface="Microsoft JhengHei"/>
              </a:defRPr>
            </a:pPr>
            <a:r>
              <a:t>可用 base URL 接手機攝影機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87752"/>
            <a:ext cx="14173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2660904"/>
            <a:ext cx="13075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0">
                <a:solidFill>
                  <a:srgbClr val="17211C"/>
                </a:solidFill>
                <a:latin typeface="Microsoft JhengHei"/>
              </a:defRPr>
            </a:pPr>
            <a:r>
              <a:t>主畫面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2587752"/>
            <a:ext cx="32461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9384" y="2660904"/>
            <a:ext cx="31363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0">
                <a:solidFill>
                  <a:srgbClr val="17211C"/>
                </a:solidFill>
                <a:latin typeface="Microsoft JhengHei"/>
              </a:defRPr>
            </a:pPr>
            <a:r>
              <a:t>404、亂碼、畫面比例與資訊不足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587752"/>
            <a:ext cx="388620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5503" y="2660904"/>
            <a:ext cx="37764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0">
                <a:solidFill>
                  <a:srgbClr val="17211C"/>
                </a:solidFill>
                <a:latin typeface="Microsoft JhengHei"/>
              </a:defRPr>
            </a:pPr>
            <a:r>
              <a:t>Flask root 頁、UTF-8、16:9、資訊卡、Overlay 切換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2587752"/>
            <a:ext cx="27889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1704" y="2660904"/>
            <a:ext cx="26791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0">
                <a:solidFill>
                  <a:srgbClr val="17211C"/>
                </a:solidFill>
                <a:latin typeface="Microsoft JhengHei"/>
              </a:defRPr>
            </a:pPr>
            <a:r>
              <a:t>可展示即時監控與模組結果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64408"/>
            <a:ext cx="14173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3337560"/>
            <a:ext cx="13075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0">
                <a:solidFill>
                  <a:srgbClr val="17211C"/>
                </a:solidFill>
                <a:latin typeface="Microsoft JhengHei"/>
              </a:defRPr>
            </a:pPr>
            <a:r>
              <a:t>人員追蹤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19" y="3264408"/>
            <a:ext cx="32461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9384" y="3337560"/>
            <a:ext cx="31363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0">
                <a:solidFill>
                  <a:srgbClr val="17211C"/>
                </a:solidFill>
                <a:latin typeface="Microsoft JhengHei"/>
              </a:defRPr>
            </a:pPr>
            <a:r>
              <a:t>ID 亂跳、多框、殘影、不流暢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264408"/>
            <a:ext cx="388620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75503" y="3337560"/>
            <a:ext cx="37764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0">
                <a:solidFill>
                  <a:srgbClr val="17211C"/>
                </a:solidFill>
                <a:latin typeface="Microsoft JhengHei"/>
              </a:defRPr>
            </a:pPr>
            <a:r>
              <a:t>max_people、外觀特徵、active track、velocity 預測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3264408"/>
            <a:ext cx="27889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61704" y="3337560"/>
            <a:ext cx="26791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0">
                <a:solidFill>
                  <a:srgbClr val="17211C"/>
                </a:solidFill>
                <a:latin typeface="Microsoft JhengHei"/>
              </a:defRPr>
            </a:pPr>
            <a:r>
              <a:t>單人測試穩定，畫面較順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941064"/>
            <a:ext cx="14173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" y="4014216"/>
            <a:ext cx="13075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0">
                <a:solidFill>
                  <a:srgbClr val="17211C"/>
                </a:solidFill>
                <a:latin typeface="Microsoft JhengHei"/>
              </a:defRPr>
            </a:pPr>
            <a:r>
              <a:t>MediaPipe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3941064"/>
            <a:ext cx="32461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9384" y="4014216"/>
            <a:ext cx="31363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0">
                <a:solidFill>
                  <a:srgbClr val="17211C"/>
                </a:solidFill>
                <a:latin typeface="Microsoft JhengHei"/>
              </a:defRPr>
            </a:pPr>
            <a:r>
              <a:t>姿態不穩、跑步判斷失衡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3941064"/>
            <a:ext cx="388620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3" y="4014216"/>
            <a:ext cx="37764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0">
                <a:solidFill>
                  <a:srgbClr val="17211C"/>
                </a:solidFill>
                <a:latin typeface="Microsoft JhengHei"/>
              </a:defRPr>
            </a:pPr>
            <a:r>
              <a:t>heavy task、ROI 裁切、映射回原圖、多特徵規則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6840" y="3941064"/>
            <a:ext cx="27889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61704" y="4014216"/>
            <a:ext cx="26791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0">
                <a:solidFill>
                  <a:srgbClr val="17211C"/>
                </a:solidFill>
                <a:latin typeface="Microsoft JhengHei"/>
              </a:defRPr>
            </a:pPr>
            <a:r>
              <a:t>可畫骨架、腰部座標、行為狀態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7211C"/>
                </a:solidFill>
                <a:latin typeface="Microsoft JhengHei"/>
              </a:defRPr>
            </a:pPr>
            <a:r>
              <a:t>展示流程建議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B65"/>
                </a:solidFill>
                <a:latin typeface="Microsoft JhengHei"/>
              </a:defRPr>
            </a:pPr>
            <a:r>
              <a:t>報告時可以照這個順序操作，讓改動更直觀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33856"/>
            <a:ext cx="11018520" cy="18288"/>
          </a:xfrm>
          <a:prstGeom prst="rect">
            <a:avLst/>
          </a:prstGeom>
          <a:solidFill>
            <a:srgbClr val="DA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65"/>
                </a:solidFill>
                <a:latin typeface="Microsoft JhengHei"/>
              </a:defRPr>
            </a:pPr>
            <a:r>
              <a:t>Focused Updates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1. 啟動與連線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啟動 Flask：python -m backend.app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開啟 http://127.0.0.1:5000/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顯示右上角 active_source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可說明 CAMERA_SOURCE 可切影片或手機 URL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2. 主畫面操作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先看 Worker 模式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繪製 UWB 判定範圍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觀察下方人員卡座標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切換 MediaPipe 看骨架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切換 PPE 看裝備框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25880"/>
            <a:ext cx="3337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D4A5D"/>
                </a:solidFill>
                <a:latin typeface="Microsoft JhengHei"/>
              </a:defRPr>
            </a:pPr>
            <a:r>
              <a:t>3. 說明改善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1837943"/>
            <a:ext cx="30083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追蹤框跟隨更順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單人影片不再多框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PPE 原始偵測可追溯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MediaPipe 腰部座標可 fallback</a:t>
            </a:r>
          </a:p>
          <a:p>
            <a:pPr>
              <a:spcAft>
                <a:spcPts val="700"/>
              </a:spcAft>
              <a:defRPr sz="1220">
                <a:solidFill>
                  <a:srgbClr val="17211C"/>
                </a:solidFill>
                <a:latin typeface="Microsoft JhengHei"/>
              </a:defRPr>
            </a:pPr>
            <a:r>
              <a:t>API 可查 JSON 結果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8580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下一步建議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40817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DAE8E2"/>
                </a:solidFill>
                <a:latin typeface="Microsoft JhengHei"/>
              </a:defRPr>
            </a:pPr>
            <a:r>
              <a:t>目前已能展示四項重點功能，接下來可朝現場穩定度與 UWB 實機整合推進。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331720"/>
            <a:ext cx="3200400" cy="2606040"/>
          </a:xfrm>
          <a:prstGeom prst="roundRect">
            <a:avLst>
              <a:gd name="adj" fmla="val 6000"/>
            </a:avLst>
          </a:prstGeom>
          <a:solidFill>
            <a:srgbClr val="1E2D28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459736"/>
            <a:ext cx="2871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F3B61F"/>
                </a:solidFill>
                <a:latin typeface="Microsoft JhengHei"/>
              </a:defRPr>
            </a:pPr>
            <a:r>
              <a:t>手機串流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843784"/>
            <a:ext cx="2871216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固定手機攝影機 App 與 URL 格式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建立來源設定頁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加入斷線自動重連狀態提示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331720"/>
            <a:ext cx="3200400" cy="2606040"/>
          </a:xfrm>
          <a:prstGeom prst="roundRect">
            <a:avLst>
              <a:gd name="adj" fmla="val 6000"/>
            </a:avLst>
          </a:prstGeom>
          <a:solidFill>
            <a:srgbClr val="1E2D28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6552" y="2459736"/>
            <a:ext cx="2871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F3B61F"/>
                </a:solidFill>
                <a:latin typeface="Microsoft JhengHei"/>
              </a:defRPr>
            </a:pPr>
            <a:r>
              <a:t>追蹤與姿態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2843784"/>
            <a:ext cx="2871216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用實際工地影片校正門檻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多人場景測試 max_people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收集跑步/跌倒樣本調整規則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331720"/>
            <a:ext cx="3200400" cy="2606040"/>
          </a:xfrm>
          <a:prstGeom prst="roundRect">
            <a:avLst>
              <a:gd name="adj" fmla="val 6000"/>
            </a:avLst>
          </a:prstGeom>
          <a:solidFill>
            <a:srgbClr val="1E2D28"/>
          </a:solidFill>
          <a:ln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1" y="2459736"/>
            <a:ext cx="2871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F3B61F"/>
                </a:solidFill>
                <a:latin typeface="Microsoft JhengHei"/>
              </a:defRPr>
            </a:pPr>
            <a:r>
              <a:t>資料與 UWB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2843784"/>
            <a:ext cx="2871216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接 UWB worker_id 配對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建立資料庫紀錄</a:t>
            </a:r>
          </a:p>
          <a:p>
            <a:pPr>
              <a:spcAft>
                <a:spcPts val="700"/>
              </a:spcAft>
              <a:defRPr sz="1220">
                <a:solidFill>
                  <a:srgbClr val="FFFFFF"/>
                </a:solidFill>
                <a:latin typeface="Microsoft JhengHei"/>
              </a:defRPr>
            </a:pPr>
            <a:r>
              <a:t>事件查詢與警報通知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