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5" r:id="rId3"/>
    <p:sldId id="266" r:id="rId4"/>
    <p:sldId id="259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28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1C"/>
                </a:solidFill>
                <a:latin typeface="Microsoft JhengHei"/>
              </a:defRPr>
            </a:pPr>
            <a:r>
              <a:t>前端功能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36D"/>
                </a:solidFill>
                <a:latin typeface="Microsoft JhengHei"/>
              </a:defRPr>
            </a:pPr>
            <a:r>
              <a:rPr dirty="0" err="1"/>
              <a:t>目前有</a:t>
            </a:r>
            <a:r>
              <a:rPr dirty="0"/>
              <a:t> Next.js </a:t>
            </a:r>
            <a:r>
              <a:rPr dirty="0" err="1"/>
              <a:t>前端雛形與</a:t>
            </a:r>
            <a:r>
              <a:rPr dirty="0"/>
              <a:t> Flask </a:t>
            </a:r>
            <a:r>
              <a:rPr dirty="0" err="1"/>
              <a:t>後端監控頁，核心互動已先放在</a:t>
            </a:r>
            <a:r>
              <a:rPr dirty="0"/>
              <a:t> Flask </a:t>
            </a:r>
            <a:r>
              <a:rPr dirty="0" err="1"/>
              <a:t>頁面驗證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520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rPr dirty="0" err="1"/>
              <a:t>主畫面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上方顯示即時影像串流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右上角顯示</a:t>
            </a:r>
            <a:r>
              <a:rPr dirty="0"/>
              <a:t> </a:t>
            </a:r>
            <a:r>
              <a:rPr dirty="0" err="1"/>
              <a:t>camera_id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下方依追蹤到的人員數量產生資訊方格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每格顯示</a:t>
            </a:r>
            <a:r>
              <a:rPr dirty="0"/>
              <a:t> </a:t>
            </a:r>
            <a:r>
              <a:rPr dirty="0" err="1"/>
              <a:t>worker_id、track_id、PPE、風險、座標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43400" y="1508760"/>
            <a:ext cx="3520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500" b="1">
                <a:solidFill>
                  <a:srgbClr val="138A5B"/>
                </a:solidFill>
                <a:latin typeface="Microsoft JhengHei"/>
              </a:defRPr>
            </a:pPr>
            <a:r>
              <a:t>範圍繪製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可在畫面上自由點選 BLE 判定範圍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至少三點形成多邊形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儲存後後端以正規化座標保存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串流 overlay 會畫出 BLE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08760"/>
            <a:ext cx="3520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500" b="1">
                <a:solidFill>
                  <a:srgbClr val="B56B00"/>
                </a:solidFill>
                <a:latin typeface="Microsoft JhengHei"/>
              </a:defRPr>
            </a:pPr>
            <a:r>
              <a:rPr dirty="0" err="1"/>
              <a:t>快速檢查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健康檢查</a:t>
            </a:r>
            <a:r>
              <a:rPr dirty="0"/>
              <a:t> /</a:t>
            </a:r>
            <a:r>
              <a:rPr dirty="0" err="1"/>
              <a:t>api</a:t>
            </a:r>
            <a:r>
              <a:rPr dirty="0"/>
              <a:t>/health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攝影機狀態</a:t>
            </a:r>
            <a:r>
              <a:rPr dirty="0"/>
              <a:t> /</a:t>
            </a:r>
            <a:r>
              <a:rPr dirty="0" err="1"/>
              <a:t>api</a:t>
            </a:r>
            <a:r>
              <a:rPr dirty="0"/>
              <a:t>/cameras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人員狀態</a:t>
            </a:r>
            <a:r>
              <a:rPr dirty="0"/>
              <a:t> /</a:t>
            </a:r>
            <a:r>
              <a:rPr dirty="0" err="1"/>
              <a:t>api</a:t>
            </a:r>
            <a:r>
              <a:rPr dirty="0"/>
              <a:t>/workers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警報事件</a:t>
            </a:r>
            <a:r>
              <a:rPr dirty="0"/>
              <a:t> /</a:t>
            </a:r>
            <a:r>
              <a:rPr dirty="0" err="1"/>
              <a:t>api</a:t>
            </a:r>
            <a:r>
              <a:rPr dirty="0"/>
              <a:t>/alerts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6D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The image shows a construction site with a live feed displaying the number of workers detected and their status.&#10;&#10;AI 產生的內容可能不正確。">
            <a:extLst>
              <a:ext uri="{FF2B5EF4-FFF2-40B4-BE49-F238E27FC236}">
                <a16:creationId xmlns:a16="http://schemas.microsoft.com/office/drawing/2014/main" id="{83A103CA-F85A-4650-0D39-8CC4AAC87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818"/>
            <a:ext cx="12192000" cy="547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0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The image displays a table with various statistics and statuses for different workers, including their locations, health checks, and equipment status, along with some coordinates.&#10;&#10;AI 產生的內容可能不正確。">
            <a:extLst>
              <a:ext uri="{FF2B5EF4-FFF2-40B4-BE49-F238E27FC236}">
                <a16:creationId xmlns:a16="http://schemas.microsoft.com/office/drawing/2014/main" id="{E9247E2D-2DDF-2F86-76B2-F6B5437AD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1880"/>
            <a:ext cx="12192000" cy="443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0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1C"/>
                </a:solidFill>
                <a:latin typeface="Microsoft JhengHei"/>
              </a:defRPr>
            </a:pPr>
            <a:r>
              <a:t>後端核心模組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36D"/>
                </a:solidFill>
                <a:latin typeface="Microsoft JhengHei"/>
              </a:defRPr>
            </a:pPr>
            <a:r>
              <a:t>目前後端依功能拆成五個主要模組，二、三保留模型整合，四、五已強化狀態管理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11680" cy="566928"/>
          </a:xfrm>
          <a:prstGeom prst="roundRect">
            <a:avLst/>
          </a:prstGeom>
          <a:solidFill>
            <a:srgbClr val="2D4A5D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camera.py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32588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7211C"/>
                </a:solidFill>
                <a:latin typeface="Microsoft JhengHei"/>
              </a:defRPr>
            </a:pPr>
            <a:r>
              <a:t>影像輸入與前處理</a:t>
            </a:r>
            <a:br/>
            <a:r>
              <a:t>影片 / RTSP、解析度、FPS、亮度、對比、銳化、降噪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011680" cy="566928"/>
          </a:xfrm>
          <a:prstGeom prst="roundRect">
            <a:avLst/>
          </a:prstGeom>
          <a:solidFill>
            <a:srgbClr val="138A5B"/>
          </a:solidFill>
          <a:ln>
            <a:solidFill>
              <a:srgbClr val="13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yolo_detector.py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19456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7211C"/>
                </a:solidFill>
                <a:latin typeface="Microsoft JhengHei"/>
              </a:defRPr>
            </a:pPr>
            <a:r>
              <a:t>YOLO 偵測</a:t>
            </a:r>
            <a:br/>
            <a:r>
              <a:t>kaggle.pt 偵測人員；best_v3.pt 偵測安全帽與背心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39"/>
            <a:ext cx="2011680" cy="566928"/>
          </a:xfrm>
          <a:prstGeom prst="roundRect">
            <a:avLst/>
          </a:prstGeom>
          <a:solidFill>
            <a:srgbClr val="B56B00"/>
          </a:solidFill>
          <a:ln>
            <a:solidFill>
              <a:srgbClr val="B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pose_detector.py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063239"/>
            <a:ext cx="135005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MediaPipe</a:t>
            </a:r>
            <a:r>
              <a:rPr dirty="0"/>
              <a:t> </a:t>
            </a:r>
            <a:r>
              <a:rPr dirty="0" err="1"/>
              <a:t>姿態</a:t>
            </a:r>
            <a:br>
              <a:rPr dirty="0"/>
            </a:br>
            <a:r>
              <a:rPr dirty="0" err="1"/>
              <a:t>包裝姿態分析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2011680" cy="566928"/>
          </a:xfrm>
          <a:prstGeom prst="roundRect">
            <a:avLst/>
          </a:prstGeom>
          <a:solidFill>
            <a:srgbClr val="BD2B2B"/>
          </a:solidFill>
          <a:ln>
            <a:solidFill>
              <a:srgbClr val="BD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tracker.py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93192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人員追蹤</a:t>
            </a:r>
            <a:br>
              <a:rPr dirty="0"/>
            </a:br>
            <a:r>
              <a:rPr dirty="0" err="1"/>
              <a:t>IoU</a:t>
            </a:r>
            <a:r>
              <a:rPr dirty="0"/>
              <a:t> + </a:t>
            </a:r>
            <a:r>
              <a:rPr dirty="0" err="1"/>
              <a:t>中心距離</a:t>
            </a:r>
            <a:r>
              <a:rPr dirty="0"/>
              <a:t> + </a:t>
            </a:r>
            <a:r>
              <a:rPr dirty="0" err="1"/>
              <a:t>尺寸相似度維持</a:t>
            </a:r>
            <a:r>
              <a:rPr dirty="0"/>
              <a:t> </a:t>
            </a:r>
            <a:r>
              <a:rPr dirty="0" err="1"/>
              <a:t>track_id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2011680" cy="566928"/>
          </a:xfrm>
          <a:prstGeom prst="roundRect">
            <a:avLst/>
          </a:prstGeom>
          <a:solidFill>
            <a:srgbClr val="2D4A5D"/>
          </a:solidFill>
          <a:ln>
            <a:solidFill>
              <a:srgbClr val="2D4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worker_manager.py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80060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7211C"/>
                </a:solidFill>
                <a:latin typeface="Microsoft JhengHei"/>
              </a:defRPr>
            </a:pPr>
            <a:r>
              <a:t>狀態管理</a:t>
            </a:r>
            <a:br/>
            <a:r>
              <a:t>整合人員、PPE、姿態、座標、風險與事件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6D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1C"/>
                </a:solidFill>
                <a:latin typeface="Microsoft JhengHei"/>
              </a:defRPr>
            </a:pPr>
            <a:r>
              <a:t>人員追蹤與座標計算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36D"/>
                </a:solidFill>
                <a:latin typeface="Microsoft JhengHei"/>
              </a:defRPr>
            </a:pPr>
            <a:r>
              <a:t>模組四目前負責維持 track_id，並輸出兩層座標給 BLE 配對使用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t>追蹤邏輯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YOLO person box 進入 IouTracker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用 IoU、中心點距離、框大小相似度比對前後幀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短暫漏偵測時保留 track，降低 ID 變動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同一人會維持同一個 track_id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500" b="1">
                <a:solidFill>
                  <a:srgbClr val="138A5B"/>
                </a:solidFill>
                <a:latin typeface="Microsoft JhengHei"/>
              </a:defRPr>
            </a:pPr>
            <a:r>
              <a:rPr dirty="0" err="1"/>
              <a:t>整畫面座標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永遠計算</a:t>
            </a:r>
            <a:r>
              <a:rPr dirty="0"/>
              <a:t> </a:t>
            </a:r>
            <a:r>
              <a:rPr dirty="0" err="1"/>
              <a:t>coordinate.frame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使用人員框底</a:t>
            </a:r>
            <a:r>
              <a:rPr lang="zh-TW" altLang="en-US" sz="1150" dirty="0">
                <a:solidFill>
                  <a:srgbClr val="17211C"/>
                </a:solidFill>
                <a:latin typeface="Microsoft JhengHei"/>
              </a:rPr>
              <a:t>中心</a:t>
            </a:r>
            <a:endParaRPr sz="1150" dirty="0">
              <a:solidFill>
                <a:srgbClr val="17211C"/>
              </a:solidFill>
              <a:latin typeface="Microsoft JhengHei"/>
            </a:endParaRP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同時保存</a:t>
            </a:r>
            <a:r>
              <a:rPr dirty="0"/>
              <a:t> pixel 與 normalized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適合</a:t>
            </a:r>
            <a:r>
              <a:rPr dirty="0"/>
              <a:t> debug </a:t>
            </a:r>
            <a:r>
              <a:rPr dirty="0" err="1"/>
              <a:t>與全畫面定位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500" b="1">
                <a:solidFill>
                  <a:srgbClr val="B56B00"/>
                </a:solidFill>
                <a:latin typeface="Microsoft JhengHei"/>
              </a:defRPr>
            </a:pPr>
            <a:r>
              <a:t>繪製範圍座標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使用使用者畫出的 polygon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人員點在範圍內才計算 coordinate.range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不在範圍內則 range = null，前端顯示「無」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t>預留 BLE 配對範圍判定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6D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11C"/>
                </a:solidFill>
                <a:latin typeface="Microsoft JhengHei"/>
              </a:defRPr>
            </a:pPr>
            <a:r>
              <a:t>主要資料結構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36D"/>
                </a:solidFill>
                <a:latin typeface="Microsoft JhengHei"/>
              </a:defRPr>
            </a:pPr>
            <a:r>
              <a:t>前端讀取 /api/workers 時，核心資料來自 WorkerState.to_dict()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074920" cy="4526280"/>
          </a:xfrm>
          <a:prstGeom prst="roundRect">
            <a:avLst/>
          </a:prstGeom>
          <a:solidFill>
            <a:srgbClr val="111816"/>
          </a:solidFill>
          <a:ln>
            <a:solidFill>
              <a:srgbClr val="111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rPr dirty="0"/>
              <a:t>{</a:t>
            </a:r>
            <a:br>
              <a:rPr dirty="0"/>
            </a:br>
            <a:r>
              <a:rPr dirty="0"/>
              <a:t>  "</a:t>
            </a:r>
            <a:r>
              <a:rPr dirty="0" err="1"/>
              <a:t>worker_id</a:t>
            </a:r>
            <a:r>
              <a:rPr dirty="0"/>
              <a:t>": "worker-001",</a:t>
            </a:r>
            <a:br>
              <a:rPr dirty="0"/>
            </a:br>
            <a:r>
              <a:rPr dirty="0"/>
              <a:t>  "</a:t>
            </a:r>
            <a:r>
              <a:rPr dirty="0" err="1"/>
              <a:t>track_id</a:t>
            </a:r>
            <a:r>
              <a:rPr dirty="0"/>
              <a:t>": 1,</a:t>
            </a:r>
            <a:br>
              <a:rPr dirty="0"/>
            </a:br>
            <a:r>
              <a:rPr dirty="0"/>
              <a:t>  "</a:t>
            </a:r>
            <a:r>
              <a:rPr dirty="0" err="1"/>
              <a:t>camera_id</a:t>
            </a:r>
            <a:r>
              <a:rPr dirty="0"/>
              <a:t>": "CAM-01",</a:t>
            </a:r>
            <a:br>
              <a:rPr dirty="0"/>
            </a:br>
            <a:r>
              <a:rPr dirty="0"/>
              <a:t>  "zone": "</a:t>
            </a:r>
            <a:r>
              <a:rPr dirty="0" err="1"/>
              <a:t>預設監控區</a:t>
            </a:r>
            <a:r>
              <a:rPr dirty="0"/>
              <a:t>",</a:t>
            </a:r>
            <a:br>
              <a:rPr dirty="0"/>
            </a:br>
            <a:r>
              <a:rPr dirty="0"/>
              <a:t>  "</a:t>
            </a:r>
            <a:r>
              <a:rPr dirty="0" err="1"/>
              <a:t>ppe</a:t>
            </a:r>
            <a:r>
              <a:rPr dirty="0"/>
              <a:t>": { "helmet": true, "vest": true },</a:t>
            </a:r>
            <a:br>
              <a:rPr dirty="0"/>
            </a:br>
            <a:r>
              <a:rPr dirty="0"/>
              <a:t>  "coordinate": {</a:t>
            </a:r>
            <a:br>
              <a:rPr dirty="0"/>
            </a:br>
            <a:r>
              <a:rPr dirty="0"/>
              <a:t>    "frame": { "pixel": { "x": 94, "y": 718 } },</a:t>
            </a:r>
            <a:br>
              <a:rPr dirty="0"/>
            </a:br>
            <a:r>
              <a:rPr dirty="0"/>
              <a:t>    "range": null</a:t>
            </a:r>
            <a:br>
              <a:rPr dirty="0"/>
            </a:br>
            <a:r>
              <a:rPr dirty="0"/>
              <a:t>  },</a:t>
            </a:r>
            <a:br>
              <a:rPr dirty="0"/>
            </a:br>
            <a:r>
              <a:rPr dirty="0"/>
              <a:t>  "</a:t>
            </a:r>
            <a:r>
              <a:rPr dirty="0" err="1"/>
              <a:t>risk_level</a:t>
            </a:r>
            <a:r>
              <a:rPr dirty="0"/>
              <a:t>": "normal",</a:t>
            </a:r>
            <a:br>
              <a:rPr dirty="0"/>
            </a:br>
            <a:r>
              <a:rPr dirty="0"/>
              <a:t>  "alerts": []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500" b="1">
                <a:solidFill>
                  <a:srgbClr val="2D4A5D"/>
                </a:solidFill>
                <a:latin typeface="Microsoft JhengHei"/>
              </a:defRPr>
            </a:pPr>
            <a:r>
              <a:rPr dirty="0" err="1"/>
              <a:t>欄位說明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worker_id：目前暫用</a:t>
            </a:r>
            <a:r>
              <a:rPr dirty="0"/>
              <a:t> </a:t>
            </a:r>
            <a:r>
              <a:rPr dirty="0" err="1"/>
              <a:t>track_id</a:t>
            </a:r>
            <a:r>
              <a:rPr dirty="0"/>
              <a:t> </a:t>
            </a:r>
            <a:r>
              <a:rPr dirty="0" err="1"/>
              <a:t>產生，之後可接</a:t>
            </a:r>
            <a:r>
              <a:rPr dirty="0"/>
              <a:t> BLE </a:t>
            </a:r>
            <a:r>
              <a:rPr dirty="0" err="1"/>
              <a:t>真實身份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track_id：影像追蹤編號，用來維持同一人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ppe：安全帽與背心的連續幀判定結果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coordinate.frame：整畫面座標，永遠存在</a:t>
            </a:r>
            <a:endParaRPr dirty="0"/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coordinate.range：在繪製範圍內才存在，否則為</a:t>
            </a:r>
            <a:r>
              <a:rPr dirty="0"/>
              <a:t> null</a:t>
            </a:r>
          </a:p>
          <a:p>
            <a:pPr>
              <a:spcAft>
                <a:spcPts val="200"/>
              </a:spcAft>
              <a:defRPr sz="1150">
                <a:solidFill>
                  <a:srgbClr val="17211C"/>
                </a:solidFill>
                <a:latin typeface="Microsoft JhengHei"/>
              </a:defRPr>
            </a:pPr>
            <a:r>
              <a:rPr dirty="0" err="1"/>
              <a:t>alerts：未穿戴、跌倒、求救等事件文字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36D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389</Words>
  <Application>Microsoft Office PowerPoint</Application>
  <PresentationFormat>寬螢幕</PresentationFormat>
  <Paragraphs>60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C113118106</cp:lastModifiedBy>
  <cp:revision>3</cp:revision>
  <dcterms:created xsi:type="dcterms:W3CDTF">2013-01-27T09:14:16Z</dcterms:created>
  <dcterms:modified xsi:type="dcterms:W3CDTF">2026-07-26T12:27:04Z</dcterms:modified>
  <cp:category/>
</cp:coreProperties>
</file>